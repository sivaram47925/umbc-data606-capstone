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71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8ECB7-FB35-4E6B-ADFB-A763331B7C64}" v="31" dt="2026-05-19T04:21:38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5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 Ram Potluri" userId="5bfb1849-8550-46bc-8b4a-8eada62ff273" providerId="ADAL" clId="{906E0EF7-9B26-4A31-A3AD-7701E7A419D0}"/>
    <pc:docChg chg="undo custSel addSld modSld">
      <pc:chgData name="Siva Ram Potluri" userId="5bfb1849-8550-46bc-8b4a-8eada62ff273" providerId="ADAL" clId="{906E0EF7-9B26-4A31-A3AD-7701E7A419D0}" dt="2026-05-19T04:23:22.211" v="60" actId="1076"/>
      <pc:docMkLst>
        <pc:docMk/>
      </pc:docMkLst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56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56"/>
            <ac:picMk id="32" creationId="{F59B067E-D033-54D6-8BC7-C4DC42394B5D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57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57"/>
            <ac:picMk id="8" creationId="{F634D46A-4DBF-F6CC-F01B-255E816EA527}"/>
          </ac:picMkLst>
        </pc:picChg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57"/>
            <ac:picMk id="9" creationId="{E55C6861-B61F-CECC-F318-CDE450220BC1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58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58"/>
            <ac:picMk id="5" creationId="{FF27E355-8E27-B208-00D4-ECCE3AC3A282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59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59"/>
            <ac:picMk id="5" creationId="{36A1F8A8-AA4C-B2BC-F440-A7A26824ADD3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0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0"/>
            <ac:picMk id="5" creationId="{65D09F00-3A55-E3CD-E8CC-15E639A95198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1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1"/>
            <ac:picMk id="5" creationId="{17EC226C-3F92-572A-2F6F-19CBC3C57834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2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2"/>
            <ac:picMk id="5" creationId="{6C06C69E-D78F-17EF-770E-558816EF64C8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3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3"/>
            <ac:picMk id="5" creationId="{74E6DAEF-3165-5202-6A86-C88EEBC68BB6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4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4"/>
            <ac:picMk id="5" creationId="{BE80B93F-8222-041B-6787-BFC9626194E1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5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5"/>
            <ac:picMk id="11" creationId="{3EFA757D-FC50-1432-D27D-C5831F485ADB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6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6"/>
            <ac:picMk id="11" creationId="{EB672F10-10FC-2E0F-FC32-D0A906C40CBB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7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7"/>
            <ac:picMk id="5" creationId="{050186E8-1A12-5660-8E51-5C5A01BD95D9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0" sldId="268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0" sldId="268"/>
            <ac:picMk id="9" creationId="{252C87E1-5B78-3EA4-0656-3BEE81BB0951}"/>
          </ac:picMkLst>
        </pc:picChg>
      </pc:sldChg>
      <pc:sldChg chg="addSp delSp modSp mod modTransition modAnim">
        <pc:chgData name="Siva Ram Potluri" userId="5bfb1849-8550-46bc-8b4a-8eada62ff273" providerId="ADAL" clId="{906E0EF7-9B26-4A31-A3AD-7701E7A419D0}" dt="2026-05-19T04:21:38.920" v="59"/>
        <pc:sldMkLst>
          <pc:docMk/>
          <pc:sldMk cId="1193278968" sldId="269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1193278968" sldId="269"/>
            <ac:picMk id="9" creationId="{D36E9751-0856-5C3F-0408-8B0DBE9B9214}"/>
          </ac:picMkLst>
        </pc:picChg>
      </pc:sldChg>
      <pc:sldChg chg="addSp delSp modSp new mod modTransition setBg modAnim">
        <pc:chgData name="Siva Ram Potluri" userId="5bfb1849-8550-46bc-8b4a-8eada62ff273" providerId="ADAL" clId="{906E0EF7-9B26-4A31-A3AD-7701E7A419D0}" dt="2026-05-19T04:21:38.920" v="59"/>
        <pc:sldMkLst>
          <pc:docMk/>
          <pc:sldMk cId="3392811725" sldId="270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3392811725" sldId="270"/>
            <ac:picMk id="3" creationId="{7B3AA159-9409-F8B2-73E0-6B559E0FC088}"/>
          </ac:picMkLst>
        </pc:picChg>
      </pc:sldChg>
      <pc:sldChg chg="addSp delSp modSp new mod modTransition setBg modAnim">
        <pc:chgData name="Siva Ram Potluri" userId="5bfb1849-8550-46bc-8b4a-8eada62ff273" providerId="ADAL" clId="{906E0EF7-9B26-4A31-A3AD-7701E7A419D0}" dt="2026-05-19T04:23:22.211" v="60" actId="1076"/>
        <pc:sldMkLst>
          <pc:docMk/>
          <pc:sldMk cId="2169607891" sldId="271"/>
        </pc:sldMkLst>
        <pc:picChg chg="add del mod">
          <ac:chgData name="Siva Ram Potluri" userId="5bfb1849-8550-46bc-8b4a-8eada62ff273" providerId="ADAL" clId="{906E0EF7-9B26-4A31-A3AD-7701E7A419D0}" dt="2026-05-19T04:21:38.920" v="59"/>
          <ac:picMkLst>
            <pc:docMk/>
            <pc:sldMk cId="2169607891" sldId="271"/>
            <ac:picMk id="3" creationId="{22874D90-F674-FA39-0BE0-F63B237E4CB5}"/>
          </ac:picMkLst>
        </pc:picChg>
        <pc:picChg chg="mod">
          <ac:chgData name="Siva Ram Potluri" userId="5bfb1849-8550-46bc-8b4a-8eada62ff273" providerId="ADAL" clId="{906E0EF7-9B26-4A31-A3AD-7701E7A419D0}" dt="2026-05-19T04:23:22.211" v="60" actId="1076"/>
          <ac:picMkLst>
            <pc:docMk/>
            <pc:sldMk cId="2169607891" sldId="271"/>
            <ac:picMk id="6" creationId="{63D05434-1928-8FC1-C443-F1BABD229B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CD198-EACF-47AB-A1DA-9600B348A363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8EF96-59F4-4CDB-A471-4F4F90C1A7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82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8EF96-59F4-4CDB-A471-4F4F90C1A76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776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841664"/>
            <a:ext cx="3655995" cy="5156800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</a:rPr>
              <a:t>ICU Mortality Prediction using Machine Learning</a:t>
            </a:r>
            <a:endParaRPr lang="en-US" sz="42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1015" y="841664"/>
            <a:ext cx="3650704" cy="5156800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chemeClr val="tx2"/>
                </a:solidFill>
              </a:rPr>
              <a:t>Siva Ram Potluri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UMBC Data Science Capstone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Instructor: </a:t>
            </a:r>
          </a:p>
          <a:p>
            <a:pPr algn="l"/>
            <a:r>
              <a:rPr lang="en-US">
                <a:solidFill>
                  <a:schemeClr val="tx2"/>
                </a:solidFill>
              </a:rPr>
              <a:t>Dr. Chaojie (Jay) Wang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33"/>
    </mc:Choice>
    <mc:Fallback xmlns="">
      <p:transition spd="slow" advTm="2403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 sz="3700" b="1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ICU patients are at high risk</a:t>
            </a:r>
          </a:p>
          <a:p>
            <a:pPr>
              <a:lnSpc>
                <a:spcPct val="90000"/>
              </a:lnSpc>
            </a:pPr>
            <a:r>
              <a:rPr lang="en-US"/>
              <a:t>Early prediction can save lives</a:t>
            </a:r>
          </a:p>
          <a:p>
            <a:pPr>
              <a:lnSpc>
                <a:spcPct val="90000"/>
              </a:lnSpc>
            </a:pPr>
            <a:r>
              <a:rPr lang="en-US"/>
              <a:t>Manual assessment is complex</a:t>
            </a:r>
          </a:p>
          <a:p>
            <a:pPr>
              <a:lnSpc>
                <a:spcPct val="90000"/>
              </a:lnSpc>
            </a:pPr>
            <a:r>
              <a:rPr lang="en-US"/>
              <a:t>Need a data-driven solution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57"/>
    </mc:Choice>
    <mc:Fallback xmlns="">
      <p:transition spd="slow" advTm="2725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 sz="37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rPr lang="en-US"/>
              <a:t>Predict hospital mortality</a:t>
            </a:r>
          </a:p>
          <a:p>
            <a:r>
              <a:rPr lang="en-US"/>
              <a:t>Binary classification problem</a:t>
            </a:r>
          </a:p>
          <a:p>
            <a:r>
              <a:rPr lang="en-US"/>
              <a:t>Use clinical features</a:t>
            </a:r>
          </a:p>
          <a:p>
            <a:r>
              <a:rPr lang="en-US"/>
              <a:t>Support medical decision-making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677"/>
    </mc:Choice>
    <mc:Fallback xmlns="">
      <p:transition spd="slow" advTm="2867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rPr lang="en-US"/>
              <a:t>ICU clinical dataset</a:t>
            </a:r>
          </a:p>
          <a:p>
            <a:r>
              <a:rPr lang="en-US"/>
              <a:t>Vitals and lab measurements</a:t>
            </a:r>
          </a:p>
          <a:p>
            <a:r>
              <a:rPr lang="en-US"/>
              <a:t>Real-world noisy data</a:t>
            </a:r>
          </a:p>
          <a:p>
            <a:r>
              <a:rPr lang="en-US"/>
              <a:t>Target: hospital_death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479"/>
    </mc:Choice>
    <mc:Fallback xmlns="">
      <p:transition spd="slow" advTm="324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Selected 16 key features</a:t>
            </a:r>
          </a:p>
          <a:p>
            <a:pPr>
              <a:lnSpc>
                <a:spcPct val="90000"/>
              </a:lnSpc>
            </a:pPr>
            <a:r>
              <a:rPr lang="en-US"/>
              <a:t>APACHE (severity indicators)</a:t>
            </a:r>
          </a:p>
          <a:p>
            <a:pPr>
              <a:lnSpc>
                <a:spcPct val="90000"/>
              </a:lnSpc>
            </a:pPr>
            <a:r>
              <a:rPr lang="en-US"/>
              <a:t>Non-APACHE (labs and vitals)</a:t>
            </a:r>
          </a:p>
          <a:p>
            <a:pPr>
              <a:lnSpc>
                <a:spcPct val="90000"/>
              </a:lnSpc>
            </a:pPr>
            <a:r>
              <a:rPr lang="en-US"/>
              <a:t>Reduced noise and complexity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803"/>
    </mc:Choice>
    <mc:Fallback xmlns="">
      <p:transition spd="slow" advTm="308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rPr lang="en-US"/>
              <a:t>Distribution analysis</a:t>
            </a:r>
          </a:p>
          <a:p>
            <a:r>
              <a:rPr lang="en-US"/>
              <a:t>Boxplots for comparison</a:t>
            </a:r>
          </a:p>
          <a:p>
            <a:r>
              <a:rPr lang="en-US"/>
              <a:t>Correlation heatmap</a:t>
            </a:r>
          </a:p>
          <a:p>
            <a:r>
              <a:rPr lang="en-US"/>
              <a:t>Reveals data patterns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21"/>
    </mc:Choice>
    <mc:Fallback xmlns="">
      <p:transition spd="slow" advTm="1952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/>
              <a:t>Class imbalance observed</a:t>
            </a:r>
          </a:p>
          <a:p>
            <a:r>
              <a:rPr lang="en-US"/>
              <a:t>Some features separate outcomes</a:t>
            </a:r>
          </a:p>
          <a:p>
            <a:r>
              <a:rPr lang="en-US"/>
              <a:t>Presence of outliers</a:t>
            </a:r>
          </a:p>
          <a:p>
            <a:r>
              <a:rPr lang="en-US"/>
              <a:t>Moderate correlations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53"/>
    </mc:Choice>
    <mc:Fallback xmlns="">
      <p:transition spd="slow" advTm="2275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4100" b="1">
                <a:solidFill>
                  <a:srgbClr val="FFFFFF"/>
                </a:solidFill>
              </a:rPr>
              <a:t>Modeling Approach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/>
              <a:t>Logistic Regression</a:t>
            </a:r>
          </a:p>
          <a:p>
            <a:r>
              <a:rPr lang="en-US"/>
              <a:t>Random Forest</a:t>
            </a:r>
          </a:p>
          <a:p>
            <a:r>
              <a:rPr lang="en-US"/>
              <a:t>Gradient Boosting</a:t>
            </a:r>
          </a:p>
          <a:p>
            <a:r>
              <a:rPr lang="en-US"/>
              <a:t>Compared using ROC-AUC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91"/>
    </mc:Choice>
    <mc:Fallback xmlns="">
      <p:transition spd="slow" advTm="1799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/>
              <a:t>ROC-AUC comparison</a:t>
            </a:r>
          </a:p>
          <a:p>
            <a:r>
              <a:rPr lang="en-US"/>
              <a:t>Gradient Boosting performed best</a:t>
            </a:r>
          </a:p>
          <a:p>
            <a:r>
              <a:rPr lang="en-US"/>
              <a:t>Handles complex patterns</a:t>
            </a:r>
          </a:p>
          <a:p>
            <a:r>
              <a:rPr lang="en-US"/>
              <a:t>Best predictive performance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66"/>
    </mc:Choice>
    <mc:Fallback xmlns="">
      <p:transition spd="slow" advTm="2796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400" b="1" dirty="0">
                <a:solidFill>
                  <a:srgbClr val="FFFFFF"/>
                </a:solidFill>
              </a:rPr>
              <a:t>Feature Importance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Top features identified</a:t>
            </a:r>
          </a:p>
          <a:p>
            <a:r>
              <a:rPr lang="en-US" dirty="0"/>
              <a:t>APACHE features most important</a:t>
            </a:r>
          </a:p>
          <a:p>
            <a:r>
              <a:rPr lang="en-US" dirty="0"/>
              <a:t>Improves interpretability</a:t>
            </a:r>
          </a:p>
          <a:p>
            <a:r>
              <a:rPr lang="en-US" dirty="0"/>
              <a:t>Supports decision-making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77"/>
    </mc:Choice>
    <mc:Fallback xmlns="">
      <p:transition spd="slow" advTm="3327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65" name="Isosceles Triangle 20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CC35662-B620-6AB1-5E0C-9D65544BA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1118489"/>
            <a:ext cx="8178799" cy="4621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Isosceles Triangle 20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1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552"/>
    </mc:Choice>
    <mc:Fallback xmlns="">
      <p:transition spd="slow" advTm="6455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700" b="1">
                <a:solidFill>
                  <a:srgbClr val="FFFFFF"/>
                </a:solidFill>
              </a:rPr>
              <a:t>Interactive Dashboard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/>
              <a:t>Built using Streamlit</a:t>
            </a:r>
          </a:p>
          <a:p>
            <a:r>
              <a:rPr lang="en-US"/>
              <a:t>Real-time predictions</a:t>
            </a:r>
          </a:p>
          <a:p>
            <a:r>
              <a:rPr lang="en-US"/>
              <a:t>Visual outputs (charts, gauge)</a:t>
            </a:r>
          </a:p>
          <a:p>
            <a:r>
              <a:rPr lang="en-US"/>
              <a:t>User-friendly interface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143"/>
    </mc:Choice>
    <mc:Fallback xmlns="">
      <p:transition spd="slow" advTm="3914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3D05434-1928-8FC1-C443-F1BABD229B2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6935" r="16935"/>
          <a:stretch/>
        </p:blipFill>
        <p:spPr>
          <a:xfrm>
            <a:off x="511441" y="544436"/>
            <a:ext cx="8226159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0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42"/>
    </mc:Choice>
    <mc:Fallback xmlns="">
      <p:transition spd="slow" advTm="2604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7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/>
              <a:t>Model predicts ICU mortality effectively</a:t>
            </a:r>
          </a:p>
          <a:p>
            <a:r>
              <a:rPr lang="en-US"/>
              <a:t>Gradient Boosting is best model</a:t>
            </a:r>
          </a:p>
          <a:p>
            <a:r>
              <a:rPr lang="en-US"/>
              <a:t>Useful for healthcare support</a:t>
            </a:r>
          </a:p>
          <a:p>
            <a:r>
              <a:rPr lang="en-US"/>
              <a:t>Provides actionable insights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55"/>
    </mc:Choice>
    <mc:Fallback xmlns="">
      <p:transition spd="slow" advTm="3005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/>
              <a:t>Use larger datasets</a:t>
            </a:r>
          </a:p>
          <a:p>
            <a:r>
              <a:rPr lang="en-US"/>
              <a:t>Apply deep learning models</a:t>
            </a:r>
          </a:p>
          <a:p>
            <a:r>
              <a:rPr lang="en-US"/>
              <a:t>Integrate with hospital systems</a:t>
            </a:r>
          </a:p>
          <a:p>
            <a:r>
              <a:rPr lang="en-US"/>
              <a:t>Improve feature engineering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935"/>
    </mc:Choice>
    <mc:Fallback xmlns="">
      <p:transition spd="slow" advTm="4993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6BC0E9-4171-BDF6-6F55-D84A14135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349" y="1295231"/>
            <a:ext cx="4421383" cy="3807446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Thank you</a:t>
            </a:r>
            <a:endParaRPr lang="en-IN" sz="570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0311" y="0"/>
            <a:ext cx="3663689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7635" y="5439978"/>
            <a:ext cx="4423410" cy="18288"/>
          </a:xfrm>
          <a:custGeom>
            <a:avLst/>
            <a:gdLst>
              <a:gd name="csX0" fmla="*/ 0 w 4423410"/>
              <a:gd name="csY0" fmla="*/ 0 h 18288"/>
              <a:gd name="csX1" fmla="*/ 587682 w 4423410"/>
              <a:gd name="csY1" fmla="*/ 0 h 18288"/>
              <a:gd name="csX2" fmla="*/ 1086895 w 4423410"/>
              <a:gd name="csY2" fmla="*/ 0 h 18288"/>
              <a:gd name="csX3" fmla="*/ 1630343 w 4423410"/>
              <a:gd name="csY3" fmla="*/ 0 h 18288"/>
              <a:gd name="csX4" fmla="*/ 2306492 w 4423410"/>
              <a:gd name="csY4" fmla="*/ 0 h 18288"/>
              <a:gd name="csX5" fmla="*/ 2894174 w 4423410"/>
              <a:gd name="csY5" fmla="*/ 0 h 18288"/>
              <a:gd name="csX6" fmla="*/ 3437621 w 4423410"/>
              <a:gd name="csY6" fmla="*/ 0 h 18288"/>
              <a:gd name="csX7" fmla="*/ 4423410 w 4423410"/>
              <a:gd name="csY7" fmla="*/ 0 h 18288"/>
              <a:gd name="csX8" fmla="*/ 4423410 w 4423410"/>
              <a:gd name="csY8" fmla="*/ 18288 h 18288"/>
              <a:gd name="csX9" fmla="*/ 3791494 w 4423410"/>
              <a:gd name="csY9" fmla="*/ 18288 h 18288"/>
              <a:gd name="csX10" fmla="*/ 3248047 w 4423410"/>
              <a:gd name="csY10" fmla="*/ 18288 h 18288"/>
              <a:gd name="csX11" fmla="*/ 2527663 w 4423410"/>
              <a:gd name="csY11" fmla="*/ 18288 h 18288"/>
              <a:gd name="csX12" fmla="*/ 1939981 w 4423410"/>
              <a:gd name="csY12" fmla="*/ 18288 h 18288"/>
              <a:gd name="csX13" fmla="*/ 1440768 w 4423410"/>
              <a:gd name="csY13" fmla="*/ 18288 h 18288"/>
              <a:gd name="csX14" fmla="*/ 764618 w 4423410"/>
              <a:gd name="csY14" fmla="*/ 18288 h 18288"/>
              <a:gd name="csX15" fmla="*/ 0 w 4423410"/>
              <a:gd name="csY15" fmla="*/ 18288 h 18288"/>
              <a:gd name="csX16" fmla="*/ 0 w 442341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23410" h="18288" fill="none" extrusionOk="0">
                <a:moveTo>
                  <a:pt x="0" y="0"/>
                </a:moveTo>
                <a:cubicBezTo>
                  <a:pt x="206860" y="27329"/>
                  <a:pt x="325136" y="13221"/>
                  <a:pt x="587682" y="0"/>
                </a:cubicBezTo>
                <a:cubicBezTo>
                  <a:pt x="850228" y="-13221"/>
                  <a:pt x="962246" y="-2888"/>
                  <a:pt x="1086895" y="0"/>
                </a:cubicBezTo>
                <a:cubicBezTo>
                  <a:pt x="1211544" y="2888"/>
                  <a:pt x="1406859" y="-13966"/>
                  <a:pt x="1630343" y="0"/>
                </a:cubicBezTo>
                <a:cubicBezTo>
                  <a:pt x="1853827" y="13966"/>
                  <a:pt x="2051467" y="27053"/>
                  <a:pt x="2306492" y="0"/>
                </a:cubicBezTo>
                <a:cubicBezTo>
                  <a:pt x="2561517" y="-27053"/>
                  <a:pt x="2684134" y="18321"/>
                  <a:pt x="2894174" y="0"/>
                </a:cubicBezTo>
                <a:cubicBezTo>
                  <a:pt x="3104214" y="-18321"/>
                  <a:pt x="3319501" y="21782"/>
                  <a:pt x="3437621" y="0"/>
                </a:cubicBezTo>
                <a:cubicBezTo>
                  <a:pt x="3555741" y="-21782"/>
                  <a:pt x="3955621" y="40349"/>
                  <a:pt x="4423410" y="0"/>
                </a:cubicBezTo>
                <a:cubicBezTo>
                  <a:pt x="4423808" y="7429"/>
                  <a:pt x="4423390" y="10822"/>
                  <a:pt x="4423410" y="18288"/>
                </a:cubicBezTo>
                <a:cubicBezTo>
                  <a:pt x="4158738" y="10368"/>
                  <a:pt x="3977885" y="11085"/>
                  <a:pt x="3791494" y="18288"/>
                </a:cubicBezTo>
                <a:cubicBezTo>
                  <a:pt x="3605103" y="25491"/>
                  <a:pt x="3482000" y="25303"/>
                  <a:pt x="3248047" y="18288"/>
                </a:cubicBezTo>
                <a:cubicBezTo>
                  <a:pt x="3014094" y="11273"/>
                  <a:pt x="2745120" y="31445"/>
                  <a:pt x="2527663" y="18288"/>
                </a:cubicBezTo>
                <a:cubicBezTo>
                  <a:pt x="2310206" y="5131"/>
                  <a:pt x="2116106" y="38833"/>
                  <a:pt x="1939981" y="18288"/>
                </a:cubicBezTo>
                <a:cubicBezTo>
                  <a:pt x="1763856" y="-2257"/>
                  <a:pt x="1676275" y="10875"/>
                  <a:pt x="1440768" y="18288"/>
                </a:cubicBezTo>
                <a:cubicBezTo>
                  <a:pt x="1205261" y="25701"/>
                  <a:pt x="1101073" y="-9571"/>
                  <a:pt x="764618" y="18288"/>
                </a:cubicBezTo>
                <a:cubicBezTo>
                  <a:pt x="428163" y="46147"/>
                  <a:pt x="180709" y="49883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23410" h="18288" stroke="0" extrusionOk="0">
                <a:moveTo>
                  <a:pt x="0" y="0"/>
                </a:moveTo>
                <a:cubicBezTo>
                  <a:pt x="151450" y="-3182"/>
                  <a:pt x="330751" y="1975"/>
                  <a:pt x="587682" y="0"/>
                </a:cubicBezTo>
                <a:cubicBezTo>
                  <a:pt x="844613" y="-1975"/>
                  <a:pt x="925389" y="21373"/>
                  <a:pt x="1086895" y="0"/>
                </a:cubicBezTo>
                <a:cubicBezTo>
                  <a:pt x="1248401" y="-21373"/>
                  <a:pt x="1627559" y="-29275"/>
                  <a:pt x="1807279" y="0"/>
                </a:cubicBezTo>
                <a:cubicBezTo>
                  <a:pt x="1986999" y="29275"/>
                  <a:pt x="2127620" y="23385"/>
                  <a:pt x="2394961" y="0"/>
                </a:cubicBezTo>
                <a:cubicBezTo>
                  <a:pt x="2662302" y="-23385"/>
                  <a:pt x="2729719" y="-18629"/>
                  <a:pt x="2982642" y="0"/>
                </a:cubicBezTo>
                <a:cubicBezTo>
                  <a:pt x="3235565" y="18629"/>
                  <a:pt x="3498854" y="22673"/>
                  <a:pt x="3703026" y="0"/>
                </a:cubicBezTo>
                <a:cubicBezTo>
                  <a:pt x="3907198" y="-22673"/>
                  <a:pt x="4203160" y="-11253"/>
                  <a:pt x="4423410" y="0"/>
                </a:cubicBezTo>
                <a:cubicBezTo>
                  <a:pt x="4422524" y="5429"/>
                  <a:pt x="4424231" y="14046"/>
                  <a:pt x="4423410" y="18288"/>
                </a:cubicBezTo>
                <a:cubicBezTo>
                  <a:pt x="4232181" y="31060"/>
                  <a:pt x="4039656" y="18565"/>
                  <a:pt x="3879962" y="18288"/>
                </a:cubicBezTo>
                <a:cubicBezTo>
                  <a:pt x="3720268" y="18011"/>
                  <a:pt x="3410543" y="416"/>
                  <a:pt x="3248047" y="18288"/>
                </a:cubicBezTo>
                <a:cubicBezTo>
                  <a:pt x="3085551" y="36160"/>
                  <a:pt x="2859988" y="2443"/>
                  <a:pt x="2616131" y="18288"/>
                </a:cubicBezTo>
                <a:cubicBezTo>
                  <a:pt x="2372274" y="34133"/>
                  <a:pt x="2239006" y="15743"/>
                  <a:pt x="2028449" y="18288"/>
                </a:cubicBezTo>
                <a:cubicBezTo>
                  <a:pt x="1817892" y="20833"/>
                  <a:pt x="1524351" y="-9689"/>
                  <a:pt x="1308066" y="18288"/>
                </a:cubicBezTo>
                <a:cubicBezTo>
                  <a:pt x="1091781" y="46265"/>
                  <a:pt x="878642" y="35229"/>
                  <a:pt x="587682" y="18288"/>
                </a:cubicBezTo>
                <a:cubicBezTo>
                  <a:pt x="296722" y="1347"/>
                  <a:pt x="210783" y="24166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7989" y="5626353"/>
            <a:ext cx="2609715" cy="18288"/>
          </a:xfrm>
          <a:custGeom>
            <a:avLst/>
            <a:gdLst>
              <a:gd name="csX0" fmla="*/ 0 w 2609715"/>
              <a:gd name="csY0" fmla="*/ 0 h 18288"/>
              <a:gd name="csX1" fmla="*/ 626332 w 2609715"/>
              <a:gd name="csY1" fmla="*/ 0 h 18288"/>
              <a:gd name="csX2" fmla="*/ 1278760 w 2609715"/>
              <a:gd name="csY2" fmla="*/ 0 h 18288"/>
              <a:gd name="csX3" fmla="*/ 1931189 w 2609715"/>
              <a:gd name="csY3" fmla="*/ 0 h 18288"/>
              <a:gd name="csX4" fmla="*/ 2609715 w 2609715"/>
              <a:gd name="csY4" fmla="*/ 0 h 18288"/>
              <a:gd name="csX5" fmla="*/ 2609715 w 2609715"/>
              <a:gd name="csY5" fmla="*/ 18288 h 18288"/>
              <a:gd name="csX6" fmla="*/ 1957286 w 2609715"/>
              <a:gd name="csY6" fmla="*/ 18288 h 18288"/>
              <a:gd name="csX7" fmla="*/ 1357052 w 2609715"/>
              <a:gd name="csY7" fmla="*/ 18288 h 18288"/>
              <a:gd name="csX8" fmla="*/ 756817 w 2609715"/>
              <a:gd name="csY8" fmla="*/ 18288 h 18288"/>
              <a:gd name="csX9" fmla="*/ 0 w 2609715"/>
              <a:gd name="csY9" fmla="*/ 18288 h 18288"/>
              <a:gd name="csX10" fmla="*/ 0 w 2609715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9715" h="18288" fill="none" extrusionOk="0">
                <a:moveTo>
                  <a:pt x="0" y="0"/>
                </a:moveTo>
                <a:cubicBezTo>
                  <a:pt x="283276" y="6411"/>
                  <a:pt x="352876" y="-4376"/>
                  <a:pt x="626332" y="0"/>
                </a:cubicBezTo>
                <a:cubicBezTo>
                  <a:pt x="899788" y="4376"/>
                  <a:pt x="984795" y="8792"/>
                  <a:pt x="1278760" y="0"/>
                </a:cubicBezTo>
                <a:cubicBezTo>
                  <a:pt x="1572725" y="-8792"/>
                  <a:pt x="1637724" y="7668"/>
                  <a:pt x="1931189" y="0"/>
                </a:cubicBezTo>
                <a:cubicBezTo>
                  <a:pt x="2224654" y="-7668"/>
                  <a:pt x="2304540" y="-27069"/>
                  <a:pt x="2609715" y="0"/>
                </a:cubicBezTo>
                <a:cubicBezTo>
                  <a:pt x="2609561" y="8655"/>
                  <a:pt x="2608831" y="9975"/>
                  <a:pt x="2609715" y="18288"/>
                </a:cubicBezTo>
                <a:cubicBezTo>
                  <a:pt x="2465462" y="44785"/>
                  <a:pt x="2255189" y="1376"/>
                  <a:pt x="1957286" y="18288"/>
                </a:cubicBezTo>
                <a:cubicBezTo>
                  <a:pt x="1659383" y="35200"/>
                  <a:pt x="1562734" y="6078"/>
                  <a:pt x="1357052" y="18288"/>
                </a:cubicBezTo>
                <a:cubicBezTo>
                  <a:pt x="1151370" y="30498"/>
                  <a:pt x="893393" y="36847"/>
                  <a:pt x="756817" y="18288"/>
                </a:cubicBezTo>
                <a:cubicBezTo>
                  <a:pt x="620241" y="-271"/>
                  <a:pt x="309020" y="-1293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609715" h="18288" stroke="0" extrusionOk="0">
                <a:moveTo>
                  <a:pt x="0" y="0"/>
                </a:moveTo>
                <a:cubicBezTo>
                  <a:pt x="213927" y="5385"/>
                  <a:pt x="459211" y="-16832"/>
                  <a:pt x="626332" y="0"/>
                </a:cubicBezTo>
                <a:cubicBezTo>
                  <a:pt x="793453" y="16832"/>
                  <a:pt x="1001999" y="-15497"/>
                  <a:pt x="1200469" y="0"/>
                </a:cubicBezTo>
                <a:cubicBezTo>
                  <a:pt x="1398939" y="15497"/>
                  <a:pt x="1608397" y="-18886"/>
                  <a:pt x="1905092" y="0"/>
                </a:cubicBezTo>
                <a:cubicBezTo>
                  <a:pt x="2201787" y="18886"/>
                  <a:pt x="2405176" y="14775"/>
                  <a:pt x="2609715" y="0"/>
                </a:cubicBezTo>
                <a:cubicBezTo>
                  <a:pt x="2610129" y="5928"/>
                  <a:pt x="2609945" y="11133"/>
                  <a:pt x="2609715" y="18288"/>
                </a:cubicBezTo>
                <a:cubicBezTo>
                  <a:pt x="2437672" y="45501"/>
                  <a:pt x="2157047" y="37158"/>
                  <a:pt x="2009481" y="18288"/>
                </a:cubicBezTo>
                <a:cubicBezTo>
                  <a:pt x="1861915" y="-582"/>
                  <a:pt x="1705933" y="12780"/>
                  <a:pt x="1409246" y="18288"/>
                </a:cubicBezTo>
                <a:cubicBezTo>
                  <a:pt x="1112559" y="23796"/>
                  <a:pt x="883204" y="12235"/>
                  <a:pt x="704623" y="18288"/>
                </a:cubicBezTo>
                <a:cubicBezTo>
                  <a:pt x="526042" y="24341"/>
                  <a:pt x="274196" y="39038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7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18"/>
    </mc:Choice>
    <mc:Fallback xmlns="">
      <p:transition spd="slow" advTm="751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2328</TotalTime>
  <Words>211</Words>
  <Application>Microsoft Office PowerPoint</Application>
  <PresentationFormat>On-screen Show (4:3)</PresentationFormat>
  <Paragraphs>67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ICU Mortality Prediction using Machine Learning</vt:lpstr>
      <vt:lpstr>Motivation</vt:lpstr>
      <vt:lpstr>Problem Statement</vt:lpstr>
      <vt:lpstr>Dataset Overview</vt:lpstr>
      <vt:lpstr>Feature Engineering</vt:lpstr>
      <vt:lpstr>Exploratory Data Analysis</vt:lpstr>
      <vt:lpstr>Key Insights</vt:lpstr>
      <vt:lpstr>Modeling Approach</vt:lpstr>
      <vt:lpstr>Results</vt:lpstr>
      <vt:lpstr>Feature Importance</vt:lpstr>
      <vt:lpstr>PowerPoint Presentation</vt:lpstr>
      <vt:lpstr>Interactive Dashboard</vt:lpstr>
      <vt:lpstr>PowerPoint Presentation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siva ram potluri</dc:creator>
  <cp:keywords/>
  <dc:description>generated using python-pptx</dc:description>
  <cp:lastModifiedBy>Siva Ram Potluri</cp:lastModifiedBy>
  <cp:revision>2</cp:revision>
  <dcterms:created xsi:type="dcterms:W3CDTF">2013-01-27T09:14:16Z</dcterms:created>
  <dcterms:modified xsi:type="dcterms:W3CDTF">2026-05-19T04:23:31Z</dcterms:modified>
  <cp:category/>
</cp:coreProperties>
</file>